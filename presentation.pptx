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png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3.png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pPr lvl="0" marL="0" indent="0">
              <a:buNone/>
            </a:pPr>
            <a:r>
              <a:rPr/>
              <a:t>Hospital</a:t>
            </a:r>
            <a:r>
              <a:rPr/>
              <a:t> </a:t>
            </a:r>
            <a:r>
              <a:rPr/>
              <a:t>Management</a:t>
            </a:r>
            <a:r>
              <a:rPr/>
              <a:t> </a:t>
            </a:r>
            <a:r>
              <a:rPr/>
              <a:t>System</a:t>
            </a:r>
            <a:r>
              <a:rPr/>
              <a:t> </a:t>
            </a:r>
            <a:r>
              <a:rPr/>
              <a:t>(HMS)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Project</a:t>
            </a:r>
            <a:r>
              <a:rPr/>
              <a:t> </a:t>
            </a:r>
            <a:r>
              <a:rPr/>
              <a:t>Presentation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HMS - SRS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Project</a:t>
            </a:r>
            <a:r>
              <a:rPr/>
              <a:t> </a:t>
            </a: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→ </a:t>
            </a:r>
            <a:r>
              <a:rPr b="1"/>
              <a:t>Project Title:</a:t>
            </a:r>
            <a:r>
              <a:rPr/>
              <a:t> Hospital Management System (HMS) → </a:t>
            </a:r>
            <a:r>
              <a:rPr b="1"/>
              <a:t>Institution:</a:t>
            </a:r>
            <a:r>
              <a:rPr/>
              <a:t> University Bangladesh → </a:t>
            </a:r>
            <a:r>
              <a:rPr b="1"/>
              <a:t>Team Members:</a:t>
            </a:r>
            <a:r>
              <a:rPr/>
              <a:t> → Shuvo Mozumder → Alamin Sarker → Jibon Ray → MD. Shakil → Naimur Rahman → Tarin Mustari → MD. Mahedi Ahsan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Hospital Management System (HMS) is designed to streamline hospital operations in Bangladesh, inspired by leading institutions like Ibn Sina, Labaid, and Bardem.</a:t>
            </a:r>
          </a:p>
          <a:p>
            <a:pPr lvl="0" marL="0" indent="0">
              <a:buNone/>
            </a:pPr>
            <a:r>
              <a:rPr b="1"/>
              <a:t>Objectives:</a:t>
            </a:r>
            <a:r>
              <a:rPr/>
              <a:t> → Automate administrative processes → Improve patient care through digital records → Enhance operational efficiency → Ensure data security and compliance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Bangladesh</a:t>
            </a:r>
            <a:r>
              <a:rPr/>
              <a:t> </a:t>
            </a:r>
            <a:r>
              <a:rPr/>
              <a:t>Healthcare</a:t>
            </a:r>
            <a:r>
              <a:rPr/>
              <a:t> </a:t>
            </a:r>
            <a:r>
              <a:rPr/>
              <a:t>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Bangladesh’s healthcare sector features modern facilities:</a:t>
            </a:r>
          </a:p>
          <a:p>
            <a:pPr lvl="0" marL="0" indent="0">
              <a:buNone/>
            </a:pPr>
            <a:r>
              <a:rPr/>
              <a:t>→ </a:t>
            </a:r>
            <a:r>
              <a:rPr b="1"/>
              <a:t>Ibn Sina Hospital:</a:t>
            </a:r>
            <a:r>
              <a:rPr/>
              <a:t> Multi-specialty with cardiology, oncology, emergency services → </a:t>
            </a:r>
            <a:r>
              <a:rPr b="1"/>
              <a:t>Labaid Specialized Hospital:</a:t>
            </a:r>
            <a:r>
              <a:rPr/>
              <a:t> Known for cardiac care and cancer treatment → </a:t>
            </a:r>
            <a:r>
              <a:rPr b="1"/>
              <a:t>BIRDEM:</a:t>
            </a:r>
            <a:r>
              <a:rPr/>
              <a:t> Specialized in diabetes and endocrine disorders</a:t>
            </a:r>
          </a:p>
          <a:p>
            <a:pPr lvl="0" marL="0" indent="0">
              <a:buNone/>
            </a:pPr>
            <a:r>
              <a:rPr/>
              <a:t>Our HMS aims to emulate these institutions’ digital solutions.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System</a:t>
            </a:r>
            <a:r>
              <a:rPr/>
              <a:t> </a:t>
            </a:r>
            <a:r>
              <a:rPr/>
              <a:t>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HMS covers:</a:t>
            </a:r>
          </a:p>
          <a:p>
            <a:pPr lvl="0" marL="0" indent="0">
              <a:buNone/>
            </a:pPr>
            <a:r>
              <a:rPr/>
              <a:t>→ Patient Management → Doctor and Staff Management → Appointment Scheduling → Medical Records &amp; Prescriptions → Billing &amp; Payment System → Pharmacy Management → Laboratory Management → Ward/Room Management → Reporting &amp; Analytics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System</a:t>
            </a:r>
            <a:r>
              <a:rPr/>
              <a:t> </a:t>
            </a:r>
            <a:r>
              <a:rPr/>
              <a:t>Users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Roles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User</a:t>
                      </a:r>
                      <a:r>
                        <a:rPr/>
                        <a:t> </a:t>
                      </a:r>
                      <a:r>
                        <a:rPr/>
                        <a:t>Role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Key</a:t>
                      </a:r>
                      <a:r>
                        <a:rPr/>
                        <a:t> </a:t>
                      </a:r>
                      <a:r>
                        <a:rPr/>
                        <a:t>Activities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Admin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System</a:t>
                      </a:r>
                      <a:r>
                        <a:rPr/>
                        <a:t> </a:t>
                      </a: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User</a:t>
                      </a:r>
                      <a:r>
                        <a:rPr/>
                        <a:t> </a:t>
                      </a:r>
                      <a:r>
                        <a:rPr/>
                        <a:t>management,</a:t>
                      </a:r>
                      <a:r>
                        <a:rPr/>
                        <a:t> </a:t>
                      </a:r>
                      <a:r>
                        <a:rPr/>
                        <a:t>reports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Doctor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Healthcare</a:t>
                      </a:r>
                      <a:r>
                        <a:rPr/>
                        <a:t> </a:t>
                      </a:r>
                      <a:r>
                        <a:rPr/>
                        <a:t>provider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Appointments,</a:t>
                      </a:r>
                      <a:r>
                        <a:rPr/>
                        <a:t> </a:t>
                      </a:r>
                      <a:r>
                        <a:rPr/>
                        <a:t>prescriptions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Nurse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Patient</a:t>
                      </a:r>
                      <a:r>
                        <a:rPr/>
                        <a:t> </a:t>
                      </a:r>
                      <a:r>
                        <a:rPr/>
                        <a:t>care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Vital</a:t>
                      </a:r>
                      <a:r>
                        <a:rPr/>
                        <a:t> </a:t>
                      </a:r>
                      <a:r>
                        <a:rPr/>
                        <a:t>updates,</a:t>
                      </a:r>
                      <a:r>
                        <a:rPr/>
                        <a:t> </a:t>
                      </a:r>
                      <a:r>
                        <a:rPr/>
                        <a:t>room</a:t>
                      </a:r>
                      <a:r>
                        <a:rPr/>
                        <a:t> </a:t>
                      </a:r>
                      <a:r>
                        <a:rPr/>
                        <a:t>monitoring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Receptionist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Front</a:t>
                      </a:r>
                      <a:r>
                        <a:rPr/>
                        <a:t> </a:t>
                      </a:r>
                      <a:r>
                        <a:rPr/>
                        <a:t>desk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Patient</a:t>
                      </a:r>
                      <a:r>
                        <a:rPr/>
                        <a:t> </a:t>
                      </a:r>
                      <a:r>
                        <a:rPr/>
                        <a:t>registration,</a:t>
                      </a:r>
                      <a:r>
                        <a:rPr/>
                        <a:t> </a:t>
                      </a:r>
                      <a:r>
                        <a:rPr/>
                        <a:t>scheduling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Pharmacist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Medicine</a:t>
                      </a:r>
                      <a:r>
                        <a:rPr/>
                        <a:t> </a:t>
                      </a: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Drug</a:t>
                      </a:r>
                      <a:r>
                        <a:rPr/>
                        <a:t> </a:t>
                      </a:r>
                      <a:r>
                        <a:rPr/>
                        <a:t>issuance,</a:t>
                      </a:r>
                      <a:r>
                        <a:rPr/>
                        <a:t> </a:t>
                      </a:r>
                      <a:r>
                        <a:rPr/>
                        <a:t>inventory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Accountant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Financial</a:t>
                      </a:r>
                      <a:r>
                        <a:rPr/>
                        <a:t> </a:t>
                      </a:r>
                      <a:r>
                        <a:rPr/>
                        <a:t>operations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Billing,</a:t>
                      </a:r>
                      <a:r>
                        <a:rPr/>
                        <a:t> </a:t>
                      </a:r>
                      <a:r>
                        <a:rPr/>
                        <a:t>payment</a:t>
                      </a:r>
                      <a:r>
                        <a:rPr/>
                        <a:t> </a:t>
                      </a:r>
                      <a:r>
                        <a:rPr/>
                        <a:t>tracking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Patient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Service</a:t>
                      </a:r>
                      <a:r>
                        <a:rPr/>
                        <a:t> </a:t>
                      </a:r>
                      <a:r>
                        <a:rPr/>
                        <a:t>recipient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Appointment</a:t>
                      </a:r>
                      <a:r>
                        <a:rPr/>
                        <a:t> </a:t>
                      </a:r>
                      <a:r>
                        <a:rPr/>
                        <a:t>booking,</a:t>
                      </a:r>
                      <a:r>
                        <a:rPr/>
                        <a:t> </a:t>
                      </a:r>
                      <a:r>
                        <a:rPr/>
                        <a:t>bill</a:t>
                      </a:r>
                      <a:r>
                        <a:rPr/>
                        <a:t> </a:t>
                      </a:r>
                      <a:r>
                        <a:rPr/>
                        <a:t>payment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System</a:t>
            </a:r>
            <a:r>
              <a:rPr/>
              <a:t> </a:t>
            </a:r>
            <a:r>
              <a:rPr/>
              <a:t>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→ </a:t>
            </a:r>
            <a:r>
              <a:rPr b="1"/>
              <a:t>Frontend:</a:t>
            </a:r>
            <a:r>
              <a:rPr/>
              <a:t> React.js/Next.js (Responsive web app) → </a:t>
            </a:r>
            <a:r>
              <a:rPr b="1"/>
              <a:t>Backend:</a:t>
            </a:r>
            <a:r>
              <a:rPr/>
              <a:t> Django REST Framework/Node.js (API services) → </a:t>
            </a:r>
            <a:r>
              <a:rPr b="1"/>
              <a:t>Database:</a:t>
            </a:r>
            <a:r>
              <a:rPr/>
              <a:t> PostgreSQL/MySQL (Data storage) → </a:t>
            </a:r>
            <a:r>
              <a:rPr b="1"/>
              <a:t>Hosting:</a:t>
            </a:r>
            <a:r>
              <a:rPr/>
              <a:t> Vercel (Frontend), DigitalOcean/AWS (Backend)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Use</a:t>
            </a:r>
            <a:r>
              <a:rPr/>
              <a:t> </a:t>
            </a:r>
            <a:r>
              <a:rPr/>
              <a:t>Case</a:t>
            </a:r>
            <a:r>
              <a:rPr/>
              <a:t> </a:t>
            </a:r>
            <a:r>
              <a:rPr/>
              <a:t>Diagram</a:t>
            </a:r>
          </a:p>
        </p:txBody>
      </p:sp>
      <p:pic>
        <p:nvPicPr>
          <p:cNvPr descr="Use%20Case%20Diagram%20-%20Hospital%20Management%20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3581400" y="1600200"/>
            <a:ext cx="19939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Use</a:t>
            </a:r>
            <a:r>
              <a:rPr/>
              <a:t> </a:t>
            </a:r>
            <a:r>
              <a:rPr/>
              <a:t>Case</a:t>
            </a:r>
            <a:r>
              <a:rPr/>
              <a:t> </a:t>
            </a:r>
            <a:r>
              <a:rPr/>
              <a:t>Diagram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ER</a:t>
            </a:r>
            <a:r>
              <a:rPr/>
              <a:t> </a:t>
            </a:r>
            <a:r>
              <a:rPr/>
              <a:t>Diagram</a:t>
            </a:r>
          </a:p>
        </p:txBody>
      </p:sp>
      <p:pic>
        <p:nvPicPr>
          <p:cNvPr descr="ER%20Diagram%20-%20Hospital%20Management%20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2565400" y="1600200"/>
            <a:ext cx="4013200" cy="40132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ER</a:t>
            </a:r>
            <a:r>
              <a:rPr/>
              <a:t> </a:t>
            </a:r>
            <a:r>
              <a:rPr/>
              <a:t>Diagram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DFD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0</a:t>
            </a:r>
          </a:p>
        </p:txBody>
      </p:sp>
      <p:pic>
        <p:nvPicPr>
          <p:cNvPr descr="DFD%20Level%200%20-%20Hospital%20Management%20System.pn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2222500"/>
            <a:ext cx="8229600" cy="2755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5613400"/>
            <a:ext cx="8229600" cy="508000"/>
          </a:xfrm>
          <a:prstGeom prst="rect">
            <a:avLst/>
          </a:prstGeom>
          <a:noFill/>
        </p:spPr>
        <p:txBody>
          <a:bodyPr/>
          <a:lstStyle/>
          <a:p>
            <a:pPr lvl="0" marL="0" indent="0" algn="ctr">
              <a:buNone/>
            </a:pPr>
            <a:r>
              <a:rPr/>
              <a:t>DFD</a:t>
            </a:r>
            <a:r>
              <a:rPr/>
              <a:t> </a:t>
            </a:r>
            <a:r>
              <a:rPr/>
              <a:t>Level</a:t>
            </a:r>
            <a:r>
              <a:rPr/>
              <a:t> </a:t>
            </a:r>
            <a:r>
              <a:rPr/>
              <a:t>0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Functional</a:t>
            </a:r>
            <a:r>
              <a:rPr/>
              <a:t> </a:t>
            </a:r>
            <a:r>
              <a:rPr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→ FR1: Patient Registration → FR2: Appointment Booking → FR3: Medical Record Management → FR4: Billing System → FR5: User Access Control → FR6: Reporting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Non-Functional</a:t>
            </a:r>
            <a:r>
              <a:rPr/>
              <a:t> </a:t>
            </a:r>
            <a:r>
              <a:rPr/>
              <a:t>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→ </a:t>
            </a:r>
            <a:r>
              <a:rPr b="1"/>
              <a:t>Performance:</a:t>
            </a:r>
            <a:r>
              <a:rPr/>
              <a:t> &lt;2 seconds load time → </a:t>
            </a:r>
            <a:r>
              <a:rPr b="1"/>
              <a:t>Security:</a:t>
            </a:r>
            <a:r>
              <a:rPr/>
              <a:t> Encrypted passwords, JWT authentication → </a:t>
            </a:r>
            <a:r>
              <a:rPr b="1"/>
              <a:t>Scalability:</a:t>
            </a:r>
            <a:r>
              <a:rPr/>
              <a:t> Handle 100+ concurrent users → </a:t>
            </a:r>
            <a:r>
              <a:rPr b="1"/>
              <a:t>Reliability:</a:t>
            </a:r>
            <a:r>
              <a:rPr/>
              <a:t> 99.9% uptime → </a:t>
            </a:r>
            <a:r>
              <a:rPr b="1"/>
              <a:t>Usability:</a:t>
            </a:r>
            <a:r>
              <a:rPr/>
              <a:t> Intuitive dashboards → </a:t>
            </a:r>
            <a:r>
              <a:rPr b="1"/>
              <a:t>Compatibility:</a:t>
            </a:r>
            <a:r>
              <a:rPr/>
              <a:t> Cross-browser, mobile responsive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Implementation</a:t>
            </a:r>
            <a:r>
              <a:rPr/>
              <a:t> </a:t>
            </a:r>
            <a:r>
              <a:rPr/>
              <a:t>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1">
              <a:buAutoNum type="arabicPeriod"/>
            </a:pPr>
            <a:r>
              <a:rPr b="1"/>
              <a:t>Phase 1:</a:t>
            </a:r>
            <a:r>
              <a:rPr/>
              <a:t> Requirement Analysis (SRS completion)</a:t>
            </a:r>
          </a:p>
          <a:p>
            <a:pPr lvl="1">
              <a:buAutoNum type="arabicPeriod"/>
            </a:pPr>
            <a:r>
              <a:rPr b="1"/>
              <a:t>Phase 2:</a:t>
            </a:r>
            <a:r>
              <a:rPr/>
              <a:t> System Design (UML diagrams, database schema)</a:t>
            </a:r>
          </a:p>
          <a:p>
            <a:pPr lvl="1">
              <a:buAutoNum type="arabicPeriod"/>
            </a:pPr>
            <a:r>
              <a:rPr b="1"/>
              <a:t>Phase 3:</a:t>
            </a:r>
            <a:r>
              <a:rPr/>
              <a:t> Development (Frontend &amp; Backend modules)</a:t>
            </a:r>
          </a:p>
          <a:p>
            <a:pPr lvl="1">
              <a:buAutoNum type="arabicPeriod"/>
            </a:pPr>
            <a:r>
              <a:rPr b="1"/>
              <a:t>Phase 4:</a:t>
            </a:r>
            <a:r>
              <a:rPr/>
              <a:t> Testing (Unit, Integration, System testing)</a:t>
            </a:r>
          </a:p>
          <a:p>
            <a:pPr lvl="1">
              <a:buAutoNum type="arabicPeriod"/>
            </a:pPr>
            <a:r>
              <a:rPr b="1"/>
              <a:t>Phase 5:</a:t>
            </a:r>
            <a:r>
              <a:rPr/>
              <a:t> Deployment (Production environment)</a:t>
            </a:r>
          </a:p>
          <a:p>
            <a:pPr lvl="1">
              <a:buAutoNum type="arabicPeriod"/>
            </a:pPr>
            <a:r>
              <a:rPr b="1"/>
              <a:t>Phase 6:</a:t>
            </a:r>
            <a:r>
              <a:rPr/>
              <a:t> Maintenance (Updates and support)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Tools</a:t>
            </a:r>
            <a:r>
              <a:rPr/>
              <a:t> </a:t>
            </a:r>
            <a:r>
              <a:rPr/>
              <a:t>and</a:t>
            </a:r>
            <a:r>
              <a:rPr/>
              <a:t> </a:t>
            </a:r>
            <a:r>
              <a:rPr/>
              <a:t>Technologies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→ </a:t>
            </a:r>
            <a:r>
              <a:rPr b="1"/>
              <a:t>Programming:</a:t>
            </a:r>
            <a:r>
              <a:rPr/>
              <a:t> Python (Django), JavaScript (React) → </a:t>
            </a:r>
            <a:r>
              <a:rPr b="1"/>
              <a:t>Database:</a:t>
            </a:r>
            <a:r>
              <a:rPr/>
              <a:t> PostgreSQL → </a:t>
            </a:r>
            <a:r>
              <a:rPr b="1"/>
              <a:t>Diagrams:</a:t>
            </a:r>
            <a:r>
              <a:rPr/>
              <a:t> Draw.io, PlantUML → </a:t>
            </a:r>
            <a:r>
              <a:rPr b="1"/>
              <a:t>Testing:</a:t>
            </a:r>
            <a:r>
              <a:rPr/>
              <a:t> Postman, Jest, Pytest → </a:t>
            </a:r>
            <a:r>
              <a:rPr b="1"/>
              <a:t>Version Control:</a:t>
            </a:r>
            <a:r>
              <a:rPr/>
              <a:t> Git + GitHub → </a:t>
            </a:r>
            <a:r>
              <a:rPr b="1"/>
              <a:t>Deployment:</a:t>
            </a:r>
            <a:r>
              <a:rPr/>
              <a:t> Vercel, DigitalOcean, Docker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→ Software Requirements Specification (SRS) → System Design Diagrams (Use Case, ER, DFD) → Database Schema → Source Code Repository → Test Cases and Results → User Manual → Deployment Guide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The HMS provides a comprehensive digital solution for Bangladesh’s healthcare needs, incorporating best practices from leading hospitals while ensuring compliance with international standards.</a:t>
            </a:r>
          </a:p>
          <a:p>
            <a:pPr lvl="0" marL="0" indent="0">
              <a:buNone/>
            </a:pPr>
            <a:r>
              <a:rPr b="1"/>
              <a:t>Key Benefits:</a:t>
            </a:r>
            <a:r>
              <a:rPr/>
              <a:t> → Improved patient care → Operational efficiency → Data security → Scalable architecture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Thank</a:t>
            </a:r>
            <a:r>
              <a:rPr/>
              <a:t> </a:t>
            </a:r>
            <a:r>
              <a:rPr/>
              <a:t>You!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Questions?</a:t>
            </a:r>
          </a:p>
          <a:p>
            <a:pPr lvl="0" marL="0" indent="0">
              <a:buNone/>
            </a:pPr>
            <a:r>
              <a:rPr b="1"/>
              <a:t>Contact:</a:t>
            </a:r>
            <a:r>
              <a:rPr/>
              <a:t> [Team Email/Contact Information]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2026-01-18T06:14:15Z</dcterms:created>
  <dcterms:modified xsi:type="dcterms:W3CDTF">2026-01-18T06:14:15Z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